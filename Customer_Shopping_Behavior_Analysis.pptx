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F4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B1F4B"/>
                </a:solidFill>
                <a:latin typeface="Arial"/>
              </a:rPr>
              <a:t>Revenue by Gender (USD)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by Gender (USD)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Female</c:v>
                  </c:pt>
                  <c:pt idx="1">
                    <c:v>Male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75191</c:v>
                </c:pt>
                <c:pt idx="1">
                  <c:v>157890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F4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B1F4B"/>
                </a:solidFill>
                <a:latin typeface="Arial"/>
              </a:rPr>
              <a:t>Revenue by Age Group (USD)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by Age Group (USD)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Young Adult</c:v>
                  </c:pt>
                  <c:pt idx="1">
                    <c:v>Middle-aged</c:v>
                  </c:pt>
                  <c:pt idx="2">
                    <c:v>Adult</c:v>
                  </c:pt>
                  <c:pt idx="3">
                    <c:v>Senior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62143</c:v>
                </c:pt>
                <c:pt idx="1">
                  <c:v>59197</c:v>
                </c:pt>
                <c:pt idx="2">
                  <c:v>55978</c:v>
                </c:pt>
                <c:pt idx="3">
                  <c:v>55763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F4B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B1F4B"/>
                </a:solidFill>
                <a:latin typeface="Arial"/>
              </a:rPr>
              <a:t>Customer Segments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Segments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1F4B"/>
              </a:solidFill>
              <a:effectLst/>
            </c:spPr>
          </c:dPt>
          <c:dPt>
            <c:idx val="1"/>
            <c:bubble3D val="0"/>
            <c:spPr>
              <a:solidFill>
                <a:srgbClr val="2563EB"/>
              </a:solidFill>
              <a:effectLst/>
            </c:spPr>
          </c:dPt>
          <c:dPt>
            <c:idx val="2"/>
            <c:bubble3D val="0"/>
            <c:spPr>
              <a:solidFill>
                <a:srgbClr val="93C5FD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Loyal</c:v>
                </c:pt>
                <c:pt idx="1">
                  <c:v>Returning</c:v>
                </c:pt>
                <c:pt idx="2">
                  <c:v>New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3116</c:v>
                </c:pt>
                <c:pt idx="1">
                  <c:v>701</c:v>
                </c:pt>
                <c:pt idx="2">
                  <c:v>83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4389120" cy="4389120"/>
          </a:xfrm>
          <a:prstGeom prst="ellipse">
            <a:avLst/>
          </a:prstGeom>
          <a:solidFill>
            <a:srgbClr val="2563EB">
              <a:alpha val="65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3017520"/>
            <a:ext cx="3108960" cy="3108960"/>
          </a:xfrm>
          <a:prstGeom prst="ellipse">
            <a:avLst/>
          </a:prstGeom>
          <a:solidFill>
            <a:srgbClr val="93C5FD">
              <a:alpha val="30000"/>
            </a:srgbClr>
          </a:solidFill>
          <a:ln w="12700">
            <a:solidFill>
              <a:srgbClr val="93C5FD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ANALYTICS PROJECT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Shopping Behavior Analysis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383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 |  PostgreSQL  |  Power BI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Uncovering spending patterns, segments, product preferences and subscription behavior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920240" cy="1280160"/>
          </a:xfrm>
          <a:prstGeom prst="roundRect">
            <a:avLst>
              <a:gd name="adj" fmla="val 8571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002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3,900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240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Purchases analyzed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0" y="1463040"/>
            <a:ext cx="1920240" cy="1280160"/>
          </a:xfrm>
          <a:prstGeom prst="roundRect">
            <a:avLst>
              <a:gd name="adj" fmla="val 857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60320" y="16002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2240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Columns / features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1920240" cy="1280160"/>
          </a:xfrm>
          <a:prstGeom prst="roundRect">
            <a:avLst>
              <a:gd name="adj" fmla="val 8571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63440" y="16002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$59.76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240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purchase amount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66560" y="1463040"/>
            <a:ext cx="1920240" cy="1280160"/>
          </a:xfrm>
          <a:prstGeom prst="roundRect">
            <a:avLst>
              <a:gd name="adj" fmla="val 857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66560" y="16002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3.75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22402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review rating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Demographics: age, gender, location, subscription status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 details: item, category, amount, season, size, color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Behavior: discounts, previous purchases, frequency, ratings, shipping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quality: 37 missing values in Review Rating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Preparation in Python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raw data to a clean, analysis-ready database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1508760"/>
          </a:xfrm>
          <a:prstGeom prst="roundRect">
            <a:avLst>
              <a:gd name="adj" fmla="val 7273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481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288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&amp; explore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16712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Imported with pandas; checked structure with info() and describe()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371600"/>
            <a:ext cx="2606040" cy="150876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1481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18288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 missing data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216712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Filled Review Rating gaps with each category’s median rating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371600"/>
            <a:ext cx="2606040" cy="1508760"/>
          </a:xfrm>
          <a:prstGeom prst="roundRect">
            <a:avLst>
              <a:gd name="adj" fmla="val 7273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72200" y="1481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18288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 columns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216712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Renamed all columns to snake_case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2606040" cy="150876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3172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35204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385876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age_group and purchase_frequency_days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46120" y="3063240"/>
            <a:ext cx="2606040" cy="1508760"/>
          </a:xfrm>
          <a:prstGeom prst="roundRect">
            <a:avLst>
              <a:gd name="adj" fmla="val 7273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383280" y="3172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3383280" y="35204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 check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383280" y="385876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 promo_code_used redundant with discount_applied; dropped it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35040" y="3063240"/>
            <a:ext cx="2606040" cy="150876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172200" y="3172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172200" y="35204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&amp; visualize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85876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Loaded into PostgreSQL for SQL analysis; Power BI dashboard on top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Drives Revenue?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Male customers generate about twice the revenue of female customers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347472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114800" y="1371600"/>
          <a:ext cx="45720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Young Adults contribute the most revenue, but all age groups are close (about $56K–$62K).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Subscriptions &amp; Customer Segments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customers are loyal, but only 27% subscribe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3108960"/>
          </a:xfrm>
          <a:prstGeom prst="roundRect">
            <a:avLst>
              <a:gd name="adj" fmla="val 352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Subscribers vs. Non-Subscribers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3657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188720"/>
                <a:gridCol w="1188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1,053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2,847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 spend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$59.49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$59.87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$62,645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$170,436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40080" y="36118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Subscribers spend about the same per purchase, so growth must come from converting repeat buyers (958 are already subscribed vs. 2,518 who are not).</a:t>
            </a:r>
            <a:endParaRPr lang="en-US" sz="11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663440" y="1371600"/>
          <a:ext cx="40233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&amp; Shipping Insights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Top-rated items, discount-dependent items and shipping impact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by rating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26517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 rating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Gloves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Sandals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3246120" y="13258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discount-reliant</a:t>
            </a:r>
            <a:endParaRPr lang="en-US" sz="13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6120" y="1691640"/>
          <a:ext cx="26517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Discount rate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50.00%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Sneakers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49.66%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Coat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49.07%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Sweater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48.17%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Pants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47.37%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035040" y="1325880"/>
            <a:ext cx="2651760" cy="256032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172200" y="1417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purchase by shipping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6172200" y="1828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$60.48</a:t>
            </a:r>
            <a:endParaRPr lang="en-US" sz="3000" dirty="0"/>
          </a:p>
        </p:txBody>
      </p:sp>
      <p:sp>
        <p:nvSpPr>
          <p:cNvPr id="11" name="Text 7"/>
          <p:cNvSpPr txBox="1"/>
          <p:nvPr/>
        </p:nvSpPr>
        <p:spPr>
          <a:xfrm>
            <a:off x="6172200" y="2377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6172200" y="2788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$58.46</a:t>
            </a:r>
            <a:endParaRPr lang="en-US" sz="3000" dirty="0"/>
          </a:p>
        </p:txBody>
      </p:sp>
      <p:sp>
        <p:nvSpPr>
          <p:cNvPr id="13" name="Text 9"/>
          <p:cNvSpPr txBox="1"/>
          <p:nvPr/>
        </p:nvSpPr>
        <p:spPr>
          <a:xfrm>
            <a:off x="6172200" y="3337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 appears in both lists: highly rated, yet half of its sales are discounted.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Recommendations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16357A"/>
          </a:solidFill>
          <a:ln w="12700">
            <a:solidFill>
              <a:srgbClr val="16357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Boost subscriptions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 exclusive subscriber benefits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46120" y="118872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16357A"/>
          </a:solidFill>
          <a:ln w="12700">
            <a:solidFill>
              <a:srgbClr val="16357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3716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Loyalty programs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8288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 repeat buyers to keep them in the Loyal segment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18872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16357A"/>
          </a:solidFill>
          <a:ln w="12700">
            <a:solidFill>
              <a:srgbClr val="16357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3716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discount policy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8288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sales boosts with margin control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16357A"/>
          </a:solidFill>
          <a:ln w="12700">
            <a:solidFill>
              <a:srgbClr val="16357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positioning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5661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top-rated and best-selling products in campaigns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292608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16357A"/>
          </a:solidFill>
          <a:ln w="12700">
            <a:solidFill>
              <a:srgbClr val="16357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4632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marketing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35661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high-revenue age groups and express-shipping users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2026-09-28T14:13:10Z</dcterms:created>
  <dcterms:modified xsi:type="dcterms:W3CDTF">2026-09-28T14:13:10Z</dcterms:modified>
</cp:coreProperties>
</file>